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 you for taking the time to meet with us today. I'm Hodl McDougall, founder of GrowthPath Consulting. We're here to share how we help Scottish SMEs transform their operational chaos into systematic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combines deep expertise in operations, technology, and client service. We've all experienced the pain of business chaos firsthand, which is why we're passionate about solving it. Hodl has 15 years in business consulting. Flora built client success programs at two previous startups. Angus spent 5 years building enterprise software systems. And Isla has transformed brand presence for over 20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Scottish SME we've spoken to faces the same challenge: their knowledge is scattered across email threads, random folders, and people's heads. When someone needs to find something, they spend hours searching. When someone leaves, their knowledge goes with them. A recent survey found that knowledge workers spend 2.5 hours per day searching for information. That's 12.5 hours per week, per person. For a 10-person team, that's 125 hours of lost productivity every single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GrowthPath brings structure to chaos. We implement knowledge management systems that organise documents, automate processing, and make everything searchable. Our approach combines proven methodologies like PARA with modern AI tools. The result: information that was previously buried becomes instantly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needs refinement before investor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signed our first paying customer, Highland Outdoor Stores, in April. They're a 3-store outdoor retailer struggling with inventory tracking across locations. The contract is worth £9,500 for implementation plus ongoing support. DataFlow Solutions represents our enterprise opportunity - a 50-person data analytics firm with potential annual value of £40-60K. We're currently awaiting their budget approval. Edinburgh Events came through a referral from Highland Outdoor - word of mouth is already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projections show our path to £500K ARR by Year 3. The assumptions are conservative - based on current pipeline conversion rates and average deal sizes. CHECK THIS WITH ANGUS - need to verify these numbers match the actual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competitors fall into two camps: generic productivity tools like Notion and Confluence that require significant customisation, and expensive enterprise solutions like SharePoint that overwhelm SMEs with complexity. GrowthPath occupies the sweet spot - customised for SME needs, but simple enough to implement in weeks, not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revenue model combines upfront implementation fees with recurring subscription revenue. Implementation fees cover the initial setup and customisation. Monthly subscriptions include ongoing support, updates, and AI processing credits. The mix gives us both near-term cash flow and predictable recurring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centres on Claude Code for document processing and AI-assisted organisation. We implement the PARA methodology (Projects, Areas, Resources, Archives) which has been proven effective across thousands of knowledge workers. Everything is platform-agnostic - works with existing tools clients already use. We don't force technology changes; we enhance what's already there. Integration with Salesforce, Google Workspace, Microsoft 365, and custom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£200K to accelerate our growth. The majority goes to building out the team - we need another developer and a sales lead. Marketing investment will drive lead generation through content and events. The remaining funds cover operational costs as we scale. With this investment, we project reaching profitability within 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today. We're excited about the opportunity to transform how Scottish businesses manage their knowledge. I'm happy to take questions, or we can schedule follow-up conversations to dive deeper into any aspect of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286000"/>
            <a:ext cx="8229600" cy="914400"/>
          </a:xfrm>
          <a:prstGeom prst="rect">
            <a:avLst/>
          </a:prstGeom>
          <a:noFill/>
          <a:ln/>
        </p:spPr>
        <p:txBody>
          <a:bodyPr wrap="square" rtlCol="0" anchor="ctr"/>
          <a:lstStyle/>
          <a:p>
            <a:pPr algn="ctr" indent="0" marL="0">
              <a:buNone/>
            </a:pPr>
            <a:r>
              <a:rPr lang="en-US" sz="4400" b="1" dirty="0">
                <a:solidFill>
                  <a:srgbClr val="2E5077"/>
                </a:solidFill>
              </a:rPr>
              <a:t>GrowthPath Consulting</a:t>
            </a:r>
            <a:endParaRPr lang="en-US" sz="4400" dirty="0"/>
          </a:p>
        </p:txBody>
      </p:sp>
      <p:sp>
        <p:nvSpPr>
          <p:cNvPr id="3" name="Text 1"/>
          <p:cNvSpPr/>
          <p:nvPr/>
        </p:nvSpPr>
        <p:spPr>
          <a:xfrm>
            <a:off x="457200" y="3200400"/>
            <a:ext cx="8229600" cy="457200"/>
          </a:xfrm>
          <a:prstGeom prst="rect">
            <a:avLst/>
          </a:prstGeom>
          <a:noFill/>
          <a:ln/>
        </p:spPr>
        <p:txBody>
          <a:bodyPr wrap="square" rtlCol="0" anchor="ctr"/>
          <a:lstStyle/>
          <a:p>
            <a:pPr algn="ctr" indent="0" marL="0">
              <a:buNone/>
            </a:pPr>
            <a:r>
              <a:rPr lang="en-US" sz="2400" dirty="0">
                <a:solidFill>
                  <a:srgbClr val="666666"/>
                </a:solidFill>
              </a:rPr>
              <a:t>Transforming Chaos into Clarity</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The Team</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800" b="1" dirty="0">
                <a:solidFill>
                  <a:srgbClr val="333333"/>
                </a:solidFill>
              </a:rPr>
              <a:t>Hodl McDougall</a:t>
            </a:r>
            <a:pPr indent="0" marL="0">
              <a:buNone/>
            </a:pPr>
            <a:r>
              <a:rPr lang="en-US" sz="1800" dirty="0">
                <a:solidFill>
                  <a:srgbClr val="333333"/>
                </a:solidFill>
              </a:rPr>
              <a:t> - Founder &amp; CEO
</a:t>
            </a:r>
            <a:pPr indent="0" marL="0">
              <a:buNone/>
            </a:pPr>
            <a:r>
              <a:rPr lang="en-US" sz="1800" b="1" dirty="0">
                <a:solidFill>
                  <a:srgbClr val="333333"/>
                </a:solidFill>
              </a:rPr>
              <a:t>Flora McCombie</a:t>
            </a:r>
            <a:pPr indent="0" marL="0">
              <a:buNone/>
            </a:pPr>
            <a:r>
              <a:rPr lang="en-US" sz="1800" dirty="0">
                <a:solidFill>
                  <a:srgbClr val="333333"/>
                </a:solidFill>
              </a:rPr>
              <a:t> - Client Relations Director
</a:t>
            </a:r>
            <a:pPr indent="0" marL="0">
              <a:buNone/>
            </a:pPr>
            <a:r>
              <a:rPr lang="en-US" sz="1800" b="1" dirty="0">
                <a:solidFill>
                  <a:srgbClr val="333333"/>
                </a:solidFill>
              </a:rPr>
              <a:t>Angus Chalmers</a:t>
            </a:r>
            <a:pPr indent="0" marL="0">
              <a:buNone/>
            </a:pPr>
            <a:r>
              <a:rPr lang="en-US" sz="1800" dirty="0">
                <a:solidFill>
                  <a:srgbClr val="333333"/>
                </a:solidFill>
              </a:rPr>
              <a:t> - Operations Manager &amp; Technical Lead
</a:t>
            </a:r>
            <a:pPr indent="0" marL="0">
              <a:buNone/>
            </a:pPr>
            <a:r>
              <a:rPr lang="en-US" sz="1800" b="1" dirty="0">
                <a:solidFill>
                  <a:srgbClr val="333333"/>
                </a:solidFill>
              </a:rPr>
              <a:t>Isla Murray</a:t>
            </a:r>
            <a:pPr indent="0" marL="0">
              <a:buNone/>
            </a:pPr>
            <a:r>
              <a:rPr lang="en-US" sz="1800" dirty="0">
                <a:solidFill>
                  <a:srgbClr val="333333"/>
                </a:solidFill>
              </a:rPr>
              <a:t> - Marketing &amp; Brand Strategist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The Problem: Document Chaos</a:t>
            </a:r>
            <a:endParaRPr lang="en-US" sz="3200" dirty="0"/>
          </a:p>
        </p:txBody>
      </p:sp>
      <p:sp>
        <p:nvSpPr>
          <p:cNvPr id="3" name="Text 1"/>
          <p:cNvSpPr/>
          <p:nvPr/>
        </p:nvSpPr>
        <p:spPr>
          <a:xfrm>
            <a:off x="457200" y="1371600"/>
            <a:ext cx="8229600" cy="1828800"/>
          </a:xfrm>
          <a:prstGeom prst="rect">
            <a:avLst/>
          </a:prstGeom>
          <a:noFill/>
          <a:ln/>
        </p:spPr>
        <p:txBody>
          <a:bodyPr wrap="square" rtlCol="0" anchor="ctr"/>
          <a:lstStyle/>
          <a:p>
            <a:pPr marL="342900" indent="-342900">
              <a:buSzPct val="100000"/>
              <a:buChar char="•"/>
            </a:pPr>
            <a:r>
              <a:rPr lang="en-US" sz="2000" dirty="0">
                <a:solidFill>
                  <a:srgbClr val="333333"/>
                </a:solidFill>
              </a:rPr>
              <a:t>• Document chaos costs SMEs 20+ hours per week
</a:t>
            </a:r>
            <a:endParaRPr lang="en-US" sz="2000" dirty="0"/>
          </a:p>
          <a:p>
            <a:pPr marL="342900" indent="-342900">
              <a:buSzPct val="100000"/>
              <a:buChar char="•"/>
            </a:pPr>
            <a:r>
              <a:rPr lang="en-US" sz="2000" dirty="0">
                <a:solidFill>
                  <a:srgbClr val="333333"/>
                </a:solidFill>
              </a:rPr>
              <a:t>• Critical information is unfindable
</a:t>
            </a:r>
            <a:endParaRPr lang="en-US" sz="2000" dirty="0"/>
          </a:p>
          <a:p>
            <a:pPr marL="342900" indent="-342900">
              <a:buSzPct val="100000"/>
              <a:buChar char="•"/>
            </a:pPr>
            <a:r>
              <a:rPr lang="en-US" sz="2000" dirty="0">
                <a:solidFill>
                  <a:srgbClr val="333333"/>
                </a:solidFill>
              </a:rPr>
              <a:t>• Knowledge walks out the door with employees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The Solution</a:t>
            </a:r>
            <a:endParaRPr lang="en-US" sz="3200" dirty="0"/>
          </a:p>
        </p:txBody>
      </p:sp>
      <p:sp>
        <p:nvSpPr>
          <p:cNvPr id="3" name="Text 1"/>
          <p:cNvSpPr/>
          <p:nvPr/>
        </p:nvSpPr>
        <p:spPr>
          <a:xfrm>
            <a:off x="457200" y="1371600"/>
            <a:ext cx="8229600" cy="1828800"/>
          </a:xfrm>
          <a:prstGeom prst="rect">
            <a:avLst/>
          </a:prstGeom>
          <a:noFill/>
          <a:ln/>
        </p:spPr>
        <p:txBody>
          <a:bodyPr wrap="square" rtlCol="0" anchor="ctr"/>
          <a:lstStyle/>
          <a:p>
            <a:pPr marL="342900" indent="-342900">
              <a:buSzPct val="100000"/>
              <a:buChar char="•"/>
            </a:pPr>
            <a:r>
              <a:rPr lang="en-US" sz="2000" dirty="0">
                <a:solidFill>
                  <a:srgbClr val="333333"/>
                </a:solidFill>
              </a:rPr>
              <a:t>• Systematic knowledge organisation
</a:t>
            </a:r>
            <a:endParaRPr lang="en-US" sz="2000" dirty="0"/>
          </a:p>
          <a:p>
            <a:pPr marL="342900" indent="-342900">
              <a:buSzPct val="100000"/>
              <a:buChar char="•"/>
            </a:pPr>
            <a:r>
              <a:rPr lang="en-US" sz="2000" dirty="0">
                <a:solidFill>
                  <a:srgbClr val="333333"/>
                </a:solidFill>
              </a:rPr>
              <a:t>• AI-powered document processing
</a:t>
            </a:r>
            <a:endParaRPr lang="en-US" sz="2000" dirty="0"/>
          </a:p>
          <a:p>
            <a:pPr marL="342900" indent="-342900">
              <a:buSzPct val="100000"/>
              <a:buChar char="•"/>
            </a:pPr>
            <a:r>
              <a:rPr lang="en-US" sz="2000" dirty="0">
                <a:solidFill>
                  <a:srgbClr val="333333"/>
                </a:solidFill>
              </a:rPr>
              <a:t>• Searchable, accessible everything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latin typeface="Calibri" pitchFamily="34" charset="0"/>
                <a:ea typeface="Calibri" pitchFamily="34" charset="-122"/>
                <a:cs typeface="Calibri" pitchFamily="34" charset="-120"/>
              </a:rPr>
              <a:t>Market Opportunity</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2200" b="1" dirty="0">
                <a:solidFill>
                  <a:srgbClr val="333333"/>
                </a:solidFill>
              </a:rPr>
              <a:t>TAM: </a:t>
            </a:r>
            <a:pPr indent="0" marL="0">
              <a:buNone/>
            </a:pPr>
            <a:r>
              <a:rPr lang="en-US" sz="2200" dirty="0">
                <a:solidFill>
                  <a:srgbClr val="333333"/>
                </a:solidFill>
              </a:rPr>
              <a:t>£2.3B (UK SME productivity software)
</a:t>
            </a:r>
            <a:pPr indent="0" marL="0">
              <a:buNone/>
            </a:pPr>
            <a:r>
              <a:rPr lang="en-US" sz="2200" b="1" dirty="0">
                <a:solidFill>
                  <a:srgbClr val="333333"/>
                </a:solidFill>
              </a:rPr>
              <a:t>SAM: </a:t>
            </a:r>
            <a:pPr indent="0" marL="0">
              <a:buNone/>
            </a:pPr>
            <a:r>
              <a:rPr lang="en-US" sz="2200" dirty="0">
                <a:solidFill>
                  <a:srgbClr val="333333"/>
                </a:solidFill>
              </a:rPr>
              <a:t>£180M (Scottish SME market)
</a:t>
            </a:r>
            <a:pPr indent="0" marL="0">
              <a:buNone/>
            </a:pPr>
            <a:r>
              <a:rPr lang="en-US" sz="2200" b="1" dirty="0">
                <a:solidFill>
                  <a:srgbClr val="333333"/>
                </a:solidFill>
              </a:rPr>
              <a:t>SOM: </a:t>
            </a:r>
            <a:pPr indent="0" marL="0">
              <a:buNone/>
            </a:pPr>
            <a:r>
              <a:rPr lang="en-US" sz="2200" dirty="0">
                <a:solidFill>
                  <a:srgbClr val="333333"/>
                </a:solidFill>
              </a:rPr>
              <a:t>£18M (our accessible market, Year 3)</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Target Customer</a:t>
            </a:r>
            <a:endParaRPr lang="en-US" sz="3200" dirty="0"/>
          </a:p>
        </p:txBody>
      </p:sp>
      <p:sp>
        <p:nvSpPr>
          <p:cNvPr id="3" name="Text 1"/>
          <p:cNvSpPr/>
          <p:nvPr/>
        </p:nvSpPr>
        <p:spPr>
          <a:xfrm>
            <a:off x="457200" y="1371600"/>
            <a:ext cx="8229600" cy="1828800"/>
          </a:xfrm>
          <a:prstGeom prst="rect">
            <a:avLst/>
          </a:prstGeom>
          <a:noFill/>
          <a:ln/>
        </p:spPr>
        <p:txBody>
          <a:bodyPr wrap="square" rtlCol="0" anchor="ctr"/>
          <a:lstStyle/>
          <a:p>
            <a:pPr marL="342900" indent="-342900">
              <a:buSzPct val="100000"/>
              <a:buChar char="•"/>
            </a:pPr>
            <a:r>
              <a:rPr lang="en-US" sz="2000" dirty="0">
                <a:solidFill>
                  <a:srgbClr val="333333"/>
                </a:solidFill>
              </a:rPr>
              <a:t>• Scottish SMEs with 10-100 employees
</a:t>
            </a:r>
            <a:endParaRPr lang="en-US" sz="2000" dirty="0"/>
          </a:p>
          <a:p>
            <a:pPr marL="342900" indent="-342900">
              <a:buSzPct val="100000"/>
              <a:buChar char="•"/>
            </a:pPr>
            <a:r>
              <a:rPr lang="en-US" sz="2000" dirty="0">
                <a:solidFill>
                  <a:srgbClr val="333333"/>
                </a:solidFill>
              </a:rPr>
              <a:t>• Professional services, manufacturing, retail
</a:t>
            </a:r>
            <a:endParaRPr lang="en-US" sz="2000" dirty="0"/>
          </a:p>
          <a:p>
            <a:pPr marL="342900" indent="-342900">
              <a:buSzPct val="100000"/>
              <a:buChar char="•"/>
            </a:pPr>
            <a:r>
              <a:rPr lang="en-US" sz="2000" dirty="0">
                <a:solidFill>
                  <a:srgbClr val="333333"/>
                </a:solidFill>
              </a:rPr>
              <a:t>• Currently using ad-hoc document management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Traction</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1800" b="1" dirty="0">
                <a:solidFill>
                  <a:srgbClr val="00AA00"/>
                </a:solidFill>
              </a:rPr>
              <a:t>Highland Outdoor Stores</a:t>
            </a:r>
            <a:pPr indent="0" marL="0">
              <a:buNone/>
            </a:pPr>
            <a:r>
              <a:rPr lang="en-US" sz="1800" dirty="0">
                <a:solidFill>
                  <a:srgbClr val="333333"/>
                </a:solidFill>
              </a:rPr>
              <a:t> - First paying customer (£9,500)
</a:t>
            </a:r>
            <a:pPr indent="0" marL="0">
              <a:buNone/>
            </a:pPr>
            <a:r>
              <a:rPr lang="en-US" sz="1800" b="1" dirty="0">
                <a:solidFill>
                  <a:srgbClr val="FF8800"/>
                </a:solidFill>
              </a:rPr>
              <a:t>DataFlow Solutions</a:t>
            </a:r>
            <a:pPr indent="0" marL="0">
              <a:buNone/>
            </a:pPr>
            <a:r>
              <a:rPr lang="en-US" sz="1800" dirty="0">
                <a:solidFill>
                  <a:srgbClr val="333333"/>
                </a:solidFill>
              </a:rPr>
              <a:t> - Enterprise pilot in progress (£40-60K potential)
</a:t>
            </a:r>
            <a:pPr indent="0" marL="0">
              <a:buNone/>
            </a:pPr>
            <a:r>
              <a:rPr lang="en-US" sz="1800" b="1" dirty="0">
                <a:solidFill>
                  <a:srgbClr val="4444FF"/>
                </a:solidFill>
              </a:rPr>
              <a:t>Edinburgh Events Ltd</a:t>
            </a:r>
            <a:pPr indent="0" marL="0">
              <a:buNone/>
            </a:pPr>
            <a:r>
              <a:rPr lang="en-US" sz="1800" dirty="0">
                <a:solidFill>
                  <a:srgbClr val="333333"/>
                </a:solidFill>
              </a:rPr>
              <a:t> - In discovery phase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Financial Projections</a:t>
            </a:r>
            <a:endParaRPr lang="en-US" sz="3200" dirty="0"/>
          </a:p>
        </p:txBody>
      </p:sp>
      <p:sp>
        <p:nvSpPr>
          <p:cNvPr id="3" name="Text 1"/>
          <p:cNvSpPr/>
          <p:nvPr/>
        </p:nvSpPr>
        <p:spPr>
          <a:xfrm>
            <a:off x="914400" y="1828800"/>
            <a:ext cx="7315200" cy="1828800"/>
          </a:xfrm>
          <a:prstGeom prst="rect">
            <a:avLst/>
          </a:prstGeom>
          <a:noFill/>
          <a:ln/>
        </p:spPr>
        <p:txBody>
          <a:bodyPr wrap="square" rtlCol="0" anchor="ctr"/>
          <a:lstStyle/>
          <a:p>
            <a:pPr algn="ctr" indent="0" marL="0">
              <a:buNone/>
            </a:pPr>
            <a:r>
              <a:rPr lang="en-US" sz="2400" dirty="0">
                <a:solidFill>
                  <a:srgbClr val="AAAAAA"/>
                </a:solidFill>
              </a:rPr>
              <a:t>[SPREADSHEET SCREENSHOT HERE]</a:t>
            </a:r>
            <a:endParaRPr lang="en-US" sz="2400" dirty="0"/>
          </a:p>
        </p:txBody>
      </p:sp>
      <p:sp>
        <p:nvSpPr>
          <p:cNvPr id="4" name="Shape 2"/>
          <p:cNvSpPr/>
          <p:nvPr/>
        </p:nvSpPr>
        <p:spPr>
          <a:xfrm>
            <a:off x="914400" y="1645920"/>
            <a:ext cx="7315200" cy="2286000"/>
          </a:xfrm>
          <a:prstGeom prst="rect">
            <a:avLst/>
          </a:prstGeom>
          <a:solidFill>
            <a:srgbClr val="F5F5F5"/>
          </a:solidFill>
          <a:ln w="12700">
            <a:solidFill>
              <a:srgbClr val="CCCCC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Competitive Landscape</a:t>
            </a:r>
            <a:endParaRPr lang="en-US" sz="3200" dirty="0"/>
          </a:p>
        </p:txBody>
      </p:sp>
      <p:sp>
        <p:nvSpPr>
          <p:cNvPr id="3" name="Shape 1"/>
          <p:cNvSpPr/>
          <p:nvPr/>
        </p:nvSpPr>
        <p:spPr>
          <a:xfrm>
            <a:off x="914400" y="2286000"/>
            <a:ext cx="6400800" cy="0"/>
          </a:xfrm>
          <a:prstGeom prst="line">
            <a:avLst/>
          </a:prstGeom>
          <a:noFill/>
          <a:ln w="12700">
            <a:solidFill>
              <a:srgbClr val="333333"/>
            </a:solidFill>
            <a:prstDash val="solid"/>
          </a:ln>
        </p:spPr>
      </p:sp>
      <p:sp>
        <p:nvSpPr>
          <p:cNvPr id="4" name="Shape 2"/>
          <p:cNvSpPr/>
          <p:nvPr/>
        </p:nvSpPr>
        <p:spPr>
          <a:xfrm>
            <a:off x="4114800" y="1097280"/>
            <a:ext cx="0" cy="2743200"/>
          </a:xfrm>
          <a:prstGeom prst="line">
            <a:avLst/>
          </a:prstGeom>
          <a:noFill/>
          <a:ln w="12700">
            <a:solidFill>
              <a:srgbClr val="333333"/>
            </a:solidFill>
            <a:prstDash val="solid"/>
          </a:ln>
        </p:spPr>
      </p:sp>
      <p:sp>
        <p:nvSpPr>
          <p:cNvPr id="5" name="Text 3"/>
          <p:cNvSpPr/>
          <p:nvPr/>
        </p:nvSpPr>
        <p:spPr>
          <a:xfrm>
            <a:off x="914400" y="3840480"/>
            <a:ext cx="1371600" cy="274320"/>
          </a:xfrm>
          <a:prstGeom prst="rect">
            <a:avLst/>
          </a:prstGeom>
          <a:noFill/>
          <a:ln/>
        </p:spPr>
        <p:txBody>
          <a:bodyPr wrap="square" rtlCol="0" anchor="ctr"/>
          <a:lstStyle/>
          <a:p>
            <a:pPr indent="0" marL="0">
              <a:buNone/>
            </a:pPr>
            <a:r>
              <a:rPr lang="en-US" sz="1200" dirty="0">
                <a:solidFill>
                  <a:srgbClr val="666666"/>
                </a:solidFill>
              </a:rPr>
              <a:t>Simple</a:t>
            </a:r>
            <a:endParaRPr lang="en-US" sz="1200" dirty="0"/>
          </a:p>
        </p:txBody>
      </p:sp>
      <p:sp>
        <p:nvSpPr>
          <p:cNvPr id="6" name="Text 4"/>
          <p:cNvSpPr/>
          <p:nvPr/>
        </p:nvSpPr>
        <p:spPr>
          <a:xfrm>
            <a:off x="5943600" y="3840480"/>
            <a:ext cx="1371600" cy="274320"/>
          </a:xfrm>
          <a:prstGeom prst="rect">
            <a:avLst/>
          </a:prstGeom>
          <a:noFill/>
          <a:ln/>
        </p:spPr>
        <p:txBody>
          <a:bodyPr wrap="square" rtlCol="0" anchor="ctr"/>
          <a:lstStyle/>
          <a:p>
            <a:pPr indent="0" marL="0">
              <a:buNone/>
            </a:pPr>
            <a:r>
              <a:rPr lang="en-US" sz="1200" dirty="0">
                <a:solidFill>
                  <a:srgbClr val="666666"/>
                </a:solidFill>
              </a:rPr>
              <a:t>Enterprise</a:t>
            </a:r>
            <a:endParaRPr lang="en-US" sz="1200" dirty="0"/>
          </a:p>
        </p:txBody>
      </p:sp>
      <p:sp>
        <p:nvSpPr>
          <p:cNvPr id="7" name="Text 5"/>
          <p:cNvSpPr/>
          <p:nvPr/>
        </p:nvSpPr>
        <p:spPr>
          <a:xfrm rot="16200000">
            <a:off x="182880" y="3200400"/>
            <a:ext cx="640080" cy="457200"/>
          </a:xfrm>
          <a:prstGeom prst="rect">
            <a:avLst/>
          </a:prstGeom>
          <a:noFill/>
          <a:ln/>
        </p:spPr>
        <p:txBody>
          <a:bodyPr wrap="square" rtlCol="0" anchor="ctr"/>
          <a:lstStyle/>
          <a:p>
            <a:pPr indent="0" marL="0">
              <a:buNone/>
            </a:pPr>
            <a:r>
              <a:rPr lang="en-US" sz="1200" dirty="0">
                <a:solidFill>
                  <a:srgbClr val="666666"/>
                </a:solidFill>
              </a:rPr>
              <a:t>Generic</a:t>
            </a:r>
            <a:endParaRPr lang="en-US" sz="1200" dirty="0"/>
          </a:p>
        </p:txBody>
      </p:sp>
      <p:sp>
        <p:nvSpPr>
          <p:cNvPr id="8" name="Text 6"/>
          <p:cNvSpPr/>
          <p:nvPr/>
        </p:nvSpPr>
        <p:spPr>
          <a:xfrm rot="16200000">
            <a:off x="182880" y="1371600"/>
            <a:ext cx="640080" cy="457200"/>
          </a:xfrm>
          <a:prstGeom prst="rect">
            <a:avLst/>
          </a:prstGeom>
          <a:noFill/>
          <a:ln/>
        </p:spPr>
        <p:txBody>
          <a:bodyPr wrap="square" rtlCol="0" anchor="ctr"/>
          <a:lstStyle/>
          <a:p>
            <a:pPr indent="0" marL="0">
              <a:buNone/>
            </a:pPr>
            <a:r>
              <a:rPr lang="en-US" sz="1200" dirty="0">
                <a:solidFill>
                  <a:srgbClr val="666666"/>
                </a:solidFill>
              </a:rPr>
              <a:t>Customised</a:t>
            </a:r>
            <a:endParaRPr lang="en-US" sz="1200" dirty="0"/>
          </a:p>
        </p:txBody>
      </p:sp>
      <p:sp>
        <p:nvSpPr>
          <p:cNvPr id="9" name="Text 7"/>
          <p:cNvSpPr/>
          <p:nvPr/>
        </p:nvSpPr>
        <p:spPr>
          <a:xfrm>
            <a:off x="5029200" y="1371600"/>
            <a:ext cx="1828800" cy="457200"/>
          </a:xfrm>
          <a:prstGeom prst="rect">
            <a:avLst/>
          </a:prstGeom>
          <a:noFill/>
          <a:ln/>
        </p:spPr>
        <p:txBody>
          <a:bodyPr wrap="square" rtlCol="0" anchor="ctr"/>
          <a:lstStyle/>
          <a:p>
            <a:pPr indent="0" marL="0">
              <a:buNone/>
            </a:pPr>
            <a:r>
              <a:rPr lang="en-US" sz="1600" b="1" dirty="0">
                <a:solidFill>
                  <a:srgbClr val="2E5077"/>
                </a:solidFill>
              </a:rPr>
              <a:t>GrowthPath</a:t>
            </a:r>
            <a:endParaRPr lang="en-US" sz="1600" dirty="0"/>
          </a:p>
        </p:txBody>
      </p:sp>
      <p:sp>
        <p:nvSpPr>
          <p:cNvPr id="10" name="Text 8"/>
          <p:cNvSpPr/>
          <p:nvPr/>
        </p:nvSpPr>
        <p:spPr>
          <a:xfrm>
            <a:off x="1371600" y="2743200"/>
            <a:ext cx="1371600" cy="274320"/>
          </a:xfrm>
          <a:prstGeom prst="rect">
            <a:avLst/>
          </a:prstGeom>
          <a:noFill/>
          <a:ln/>
        </p:spPr>
        <p:txBody>
          <a:bodyPr wrap="square" rtlCol="0" anchor="ctr"/>
          <a:lstStyle/>
          <a:p>
            <a:pPr indent="0" marL="0">
              <a:buNone/>
            </a:pPr>
            <a:r>
              <a:rPr lang="en-US" sz="1400" dirty="0">
                <a:solidFill>
                  <a:srgbClr val="666666"/>
                </a:solidFill>
              </a:rPr>
              <a:t>Notion</a:t>
            </a:r>
            <a:endParaRPr lang="en-US" sz="1400" dirty="0"/>
          </a:p>
        </p:txBody>
      </p:sp>
      <p:sp>
        <p:nvSpPr>
          <p:cNvPr id="11" name="Text 9"/>
          <p:cNvSpPr/>
          <p:nvPr/>
        </p:nvSpPr>
        <p:spPr>
          <a:xfrm>
            <a:off x="5486400" y="2743200"/>
            <a:ext cx="1371600" cy="274320"/>
          </a:xfrm>
          <a:prstGeom prst="rect">
            <a:avLst/>
          </a:prstGeom>
          <a:noFill/>
          <a:ln/>
        </p:spPr>
        <p:txBody>
          <a:bodyPr wrap="square" rtlCol="0" anchor="ctr"/>
          <a:lstStyle/>
          <a:p>
            <a:pPr indent="0" marL="0">
              <a:buNone/>
            </a:pPr>
            <a:r>
              <a:rPr lang="en-US" sz="1400" dirty="0">
                <a:solidFill>
                  <a:srgbClr val="666666"/>
                </a:solidFill>
              </a:rPr>
              <a:t>SharePoint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Business Model</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2000" b="1" dirty="0">
                <a:solidFill>
                  <a:srgbClr val="333333"/>
                </a:solidFill>
              </a:rPr>
              <a:t>Implementation: </a:t>
            </a:r>
            <a:pPr indent="0" marL="0">
              <a:buNone/>
            </a:pPr>
            <a:r>
              <a:rPr lang="en-US" sz="2000" dirty="0">
                <a:solidFill>
                  <a:srgbClr val="333333"/>
                </a:solidFill>
              </a:rPr>
              <a:t>£5K-50K (one-time)
</a:t>
            </a:r>
            <a:pPr indent="0" marL="0">
              <a:buNone/>
            </a:pPr>
            <a:r>
              <a:rPr lang="en-US" sz="2000" b="1" dirty="0">
                <a:solidFill>
                  <a:srgbClr val="333333"/>
                </a:solidFill>
              </a:rPr>
              <a:t>Monthly subscription: </a:t>
            </a:r>
            <a:pPr indent="0" marL="0">
              <a:buNone/>
            </a:pPr>
            <a:r>
              <a:rPr lang="en-US" sz="2000" dirty="0">
                <a:solidFill>
                  <a:srgbClr val="333333"/>
                </a:solidFill>
              </a:rPr>
              <a:t>£200-2,000
</a:t>
            </a:r>
            <a:pPr indent="0" marL="0">
              <a:buNone/>
            </a:pPr>
            <a:r>
              <a:rPr lang="en-US" sz="2000" b="1" dirty="0">
                <a:solidFill>
                  <a:srgbClr val="333333"/>
                </a:solidFill>
              </a:rPr>
              <a:t>Training &amp; support packages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Go-to-Market Strategy</a:t>
            </a:r>
            <a:endParaRPr lang="en-US" sz="3200" dirty="0"/>
          </a:p>
        </p:txBody>
      </p:sp>
      <p:sp>
        <p:nvSpPr>
          <p:cNvPr id="3" name="Text 1"/>
          <p:cNvSpPr/>
          <p:nvPr/>
        </p:nvSpPr>
        <p:spPr>
          <a:xfrm>
            <a:off x="457200" y="2286000"/>
            <a:ext cx="8229600" cy="914400"/>
          </a:xfrm>
          <a:prstGeom prst="rect">
            <a:avLst/>
          </a:prstGeom>
          <a:noFill/>
          <a:ln/>
        </p:spPr>
        <p:txBody>
          <a:bodyPr wrap="square" rtlCol="0" anchor="ctr"/>
          <a:lstStyle/>
          <a:p>
            <a:pPr algn="ctr" indent="0" marL="0">
              <a:buNone/>
            </a:pPr>
            <a:r>
              <a:rPr lang="en-US" sz="2400" dirty="0">
                <a:solidFill>
                  <a:srgbClr val="CCCCCC"/>
                </a:solidFill>
              </a:rPr>
              <a:t>[INSERT GO-TO-MARKET STRATEGY]</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latin typeface="Arial" pitchFamily="34" charset="0"/>
                <a:ea typeface="Arial" pitchFamily="34" charset="-122"/>
                <a:cs typeface="Arial" pitchFamily="34" charset="-120"/>
              </a:rPr>
              <a:t>Technology Stack</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marL="342900" indent="-342900">
              <a:buSzPct val="100000"/>
              <a:buChar char="•"/>
            </a:pPr>
            <a:r>
              <a:rPr lang="en-US" sz="1800" dirty="0">
                <a:solidFill>
                  <a:srgbClr val="333333"/>
                </a:solidFill>
              </a:rPr>
              <a:t>• Claude Code integration for AI processing
</a:t>
            </a:r>
            <a:endParaRPr lang="en-US" sz="1800" dirty="0"/>
          </a:p>
          <a:p>
            <a:pPr marL="342900" indent="-342900">
              <a:buSzPct val="100000"/>
              <a:buChar char="•"/>
            </a:pPr>
            <a:r>
              <a:rPr lang="en-US" sz="1800" dirty="0">
                <a:solidFill>
                  <a:srgbClr val="333333"/>
                </a:solidFill>
              </a:rPr>
              <a:t>• PARA methodology for organisation
</a:t>
            </a:r>
            <a:endParaRPr lang="en-US" sz="1800" dirty="0"/>
          </a:p>
          <a:p>
            <a:pPr marL="342900" indent="-342900">
              <a:buSzPct val="100000"/>
              <a:buChar char="•"/>
            </a:pPr>
            <a:r>
              <a:rPr lang="en-US" sz="1800" dirty="0">
                <a:solidFill>
                  <a:srgbClr val="333333"/>
                </a:solidFill>
              </a:rPr>
              <a:t>• Cross-platform compatibility
</a:t>
            </a:r>
            <a:endParaRPr lang="en-US" sz="1800" dirty="0"/>
          </a:p>
          <a:p>
            <a:pPr marL="342900" indent="-342900">
              <a:buSzPct val="100000"/>
              <a:buChar char="•"/>
            </a:pPr>
            <a:r>
              <a:rPr lang="en-US" sz="1800" dirty="0">
                <a:solidFill>
                  <a:srgbClr val="333333"/>
                </a:solidFill>
              </a:rPr>
              <a:t>• Integrates with Salesforce, Google Workspace, Microsoft 365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12-Month Roadmap</a:t>
            </a:r>
            <a:endParaRPr lang="en-US" sz="3200" dirty="0"/>
          </a:p>
        </p:txBody>
      </p:sp>
      <p:sp>
        <p:nvSpPr>
          <p:cNvPr id="3" name="Shape 1"/>
          <p:cNvSpPr/>
          <p:nvPr/>
        </p:nvSpPr>
        <p:spPr>
          <a:xfrm>
            <a:off x="457200" y="2286000"/>
            <a:ext cx="1828800" cy="1371600"/>
          </a:xfrm>
          <a:prstGeom prst="rect">
            <a:avLst/>
          </a:prstGeom>
          <a:solidFill>
            <a:srgbClr val="2E5077"/>
          </a:solidFill>
          <a:ln/>
        </p:spPr>
      </p:sp>
      <p:sp>
        <p:nvSpPr>
          <p:cNvPr id="4" name="Text 2"/>
          <p:cNvSpPr/>
          <p:nvPr/>
        </p:nvSpPr>
        <p:spPr>
          <a:xfrm>
            <a:off x="457200" y="2286000"/>
            <a:ext cx="1828800" cy="1371600"/>
          </a:xfrm>
          <a:prstGeom prst="rect">
            <a:avLst/>
          </a:prstGeom>
          <a:noFill/>
          <a:ln/>
        </p:spPr>
        <p:txBody>
          <a:bodyPr wrap="square" rtlCol="0" anchor="ctr"/>
          <a:lstStyle/>
          <a:p>
            <a:pPr algn="ctr" indent="0" marL="0">
              <a:buNone/>
            </a:pPr>
            <a:r>
              <a:rPr lang="en-US" sz="1400" dirty="0">
                <a:solidFill>
                  <a:srgbClr val="FFFFFF"/>
                </a:solidFill>
              </a:rPr>
              <a:t>Q2 2024</a:t>
            </a:r>
            <a:endParaRPr lang="en-US" sz="1400" dirty="0"/>
          </a:p>
          <a:p>
            <a:pPr algn="ctr" indent="0" marL="0">
              <a:buNone/>
            </a:pPr>
            <a:r>
              <a:rPr lang="en-US" sz="1400" dirty="0">
                <a:solidFill>
                  <a:srgbClr val="FFFFFF"/>
                </a:solidFill>
              </a:rPr>
              <a:t>Launch</a:t>
            </a:r>
            <a:endParaRPr lang="en-US" sz="1400" dirty="0"/>
          </a:p>
        </p:txBody>
      </p:sp>
      <p:sp>
        <p:nvSpPr>
          <p:cNvPr id="5" name="Shape 3"/>
          <p:cNvSpPr/>
          <p:nvPr/>
        </p:nvSpPr>
        <p:spPr>
          <a:xfrm>
            <a:off x="2468880" y="2286000"/>
            <a:ext cx="1828800" cy="1371600"/>
          </a:xfrm>
          <a:prstGeom prst="rect">
            <a:avLst/>
          </a:prstGeom>
          <a:solidFill>
            <a:srgbClr val="4A7BA7"/>
          </a:solidFill>
          <a:ln/>
        </p:spPr>
      </p:sp>
      <p:sp>
        <p:nvSpPr>
          <p:cNvPr id="6" name="Text 4"/>
          <p:cNvSpPr/>
          <p:nvPr/>
        </p:nvSpPr>
        <p:spPr>
          <a:xfrm>
            <a:off x="2468880" y="2286000"/>
            <a:ext cx="1828800" cy="1371600"/>
          </a:xfrm>
          <a:prstGeom prst="rect">
            <a:avLst/>
          </a:prstGeom>
          <a:noFill/>
          <a:ln/>
        </p:spPr>
        <p:txBody>
          <a:bodyPr wrap="square" rtlCol="0" anchor="ctr"/>
          <a:lstStyle/>
          <a:p>
            <a:pPr algn="ctr" indent="0" marL="0">
              <a:buNone/>
            </a:pPr>
            <a:r>
              <a:rPr lang="en-US" sz="1400" dirty="0">
                <a:solidFill>
                  <a:srgbClr val="FFFFFF"/>
                </a:solidFill>
              </a:rPr>
              <a:t>Q3 2024</a:t>
            </a:r>
            <a:endParaRPr lang="en-US" sz="1400" dirty="0"/>
          </a:p>
          <a:p>
            <a:pPr algn="ctr" indent="0" marL="0">
              <a:buNone/>
            </a:pPr>
            <a:r>
              <a:rPr lang="en-US" sz="1400" dirty="0">
                <a:solidFill>
                  <a:srgbClr val="FFFFFF"/>
                </a:solidFill>
              </a:rPr>
              <a:t>Enterprise</a:t>
            </a:r>
            <a:endParaRPr lang="en-US" sz="1400" dirty="0"/>
          </a:p>
        </p:txBody>
      </p:sp>
      <p:sp>
        <p:nvSpPr>
          <p:cNvPr id="7" name="Shape 5"/>
          <p:cNvSpPr/>
          <p:nvPr/>
        </p:nvSpPr>
        <p:spPr>
          <a:xfrm>
            <a:off x="4480560" y="2286000"/>
            <a:ext cx="1828800" cy="1371600"/>
          </a:xfrm>
          <a:prstGeom prst="rect">
            <a:avLst/>
          </a:prstGeom>
          <a:solidFill>
            <a:srgbClr val="6A9BC7"/>
          </a:solidFill>
          <a:ln/>
        </p:spPr>
      </p:sp>
      <p:sp>
        <p:nvSpPr>
          <p:cNvPr id="8" name="Text 6"/>
          <p:cNvSpPr/>
          <p:nvPr/>
        </p:nvSpPr>
        <p:spPr>
          <a:xfrm>
            <a:off x="4480560" y="2286000"/>
            <a:ext cx="1828800" cy="1371600"/>
          </a:xfrm>
          <a:prstGeom prst="rect">
            <a:avLst/>
          </a:prstGeom>
          <a:noFill/>
          <a:ln/>
        </p:spPr>
        <p:txBody>
          <a:bodyPr wrap="square" rtlCol="0" anchor="ctr"/>
          <a:lstStyle/>
          <a:p>
            <a:pPr algn="ctr" indent="0" marL="0">
              <a:buNone/>
            </a:pPr>
            <a:r>
              <a:rPr lang="en-US" sz="1400" dirty="0">
                <a:solidFill>
                  <a:srgbClr val="FFFFFF"/>
                </a:solidFill>
              </a:rPr>
              <a:t>Q4 2024</a:t>
            </a:r>
            <a:endParaRPr lang="en-US" sz="1400" dirty="0"/>
          </a:p>
          <a:p>
            <a:pPr algn="ctr" indent="0" marL="0">
              <a:buNone/>
            </a:pPr>
            <a:r>
              <a:rPr lang="en-US" sz="1400" dirty="0">
                <a:solidFill>
                  <a:srgbClr val="FFFFFF"/>
                </a:solidFill>
              </a:rPr>
              <a:t>Partners</a:t>
            </a:r>
            <a:endParaRPr lang="en-US" sz="1400" dirty="0"/>
          </a:p>
        </p:txBody>
      </p:sp>
      <p:sp>
        <p:nvSpPr>
          <p:cNvPr id="9" name="Shape 7"/>
          <p:cNvSpPr/>
          <p:nvPr/>
        </p:nvSpPr>
        <p:spPr>
          <a:xfrm>
            <a:off x="6492240" y="2286000"/>
            <a:ext cx="1828800" cy="1371600"/>
          </a:xfrm>
          <a:prstGeom prst="rect">
            <a:avLst/>
          </a:prstGeom>
          <a:solidFill>
            <a:srgbClr val="8ABBE7"/>
          </a:solidFill>
          <a:ln/>
        </p:spPr>
      </p:sp>
      <p:sp>
        <p:nvSpPr>
          <p:cNvPr id="10" name="Text 8"/>
          <p:cNvSpPr/>
          <p:nvPr/>
        </p:nvSpPr>
        <p:spPr>
          <a:xfrm>
            <a:off x="6492240" y="2286000"/>
            <a:ext cx="1828800" cy="1371600"/>
          </a:xfrm>
          <a:prstGeom prst="rect">
            <a:avLst/>
          </a:prstGeom>
          <a:noFill/>
          <a:ln/>
        </p:spPr>
        <p:txBody>
          <a:bodyPr wrap="square" rtlCol="0" anchor="ctr"/>
          <a:lstStyle/>
          <a:p>
            <a:pPr algn="ctr" indent="0" marL="0">
              <a:buNone/>
            </a:pPr>
            <a:r>
              <a:rPr lang="en-US" sz="1400" dirty="0">
                <a:solidFill>
                  <a:srgbClr val="333333"/>
                </a:solidFill>
              </a:rPr>
              <a:t>Q1 2025</a:t>
            </a:r>
            <a:endParaRPr lang="en-US" sz="1400" dirty="0"/>
          </a:p>
          <a:p>
            <a:pPr algn="ctr" indent="0" marL="0">
              <a:buNone/>
            </a:pPr>
            <a:r>
              <a:rPr lang="en-US" sz="1400" dirty="0">
                <a:solidFill>
                  <a:srgbClr val="333333"/>
                </a:solidFill>
              </a:rPr>
              <a:t>Scale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3200" b="1" dirty="0">
                <a:solidFill>
                  <a:srgbClr val="2E5077"/>
                </a:solidFill>
              </a:rPr>
              <a:t>The Ask</a:t>
            </a:r>
            <a:endParaRPr lang="en-US" sz="3200" dirty="0"/>
          </a:p>
        </p:txBody>
      </p:sp>
      <p:sp>
        <p:nvSpPr>
          <p:cNvPr id="3" name="Text 1"/>
          <p:cNvSpPr/>
          <p:nvPr/>
        </p:nvSpPr>
        <p:spPr>
          <a:xfrm>
            <a:off x="457200" y="1188720"/>
            <a:ext cx="8229600" cy="3200400"/>
          </a:xfrm>
          <a:prstGeom prst="rect">
            <a:avLst/>
          </a:prstGeom>
          <a:noFill/>
          <a:ln/>
        </p:spPr>
        <p:txBody>
          <a:bodyPr wrap="square" rtlCol="0" anchor="ctr"/>
          <a:lstStyle/>
          <a:p>
            <a:pPr indent="0" marL="0">
              <a:buNone/>
            </a:pPr>
            <a:r>
              <a:rPr lang="en-US" sz="2000" b="1" dirty="0">
                <a:solidFill>
                  <a:srgbClr val="333333"/>
                </a:solidFill>
              </a:rPr>
              <a:t>Raising: </a:t>
            </a:r>
            <a:pPr indent="0" marL="0">
              <a:buNone/>
            </a:pPr>
            <a:r>
              <a:rPr lang="en-US" sz="2000" dirty="0">
                <a:solidFill>
                  <a:srgbClr val="333333"/>
                </a:solidFill>
              </a:rPr>
              <a:t>£200K
</a:t>
            </a:r>
            <a:pPr indent="0" marL="0">
              <a:buNone/>
            </a:pPr>
            <a:r>
              <a:rPr lang="en-US" sz="2000" b="1" dirty="0">
                <a:solidFill>
                  <a:srgbClr val="333333"/>
                </a:solidFill>
              </a:rPr>
              <a:t>Use of funds:
</a:t>
            </a:r>
            <a:pPr indent="0" marL="0">
              <a:buNone/>
            </a:pPr>
            <a:r>
              <a:rPr lang="en-US" sz="2000" dirty="0">
                <a:solidFill>
                  <a:srgbClr val="333333"/>
                </a:solidFill>
              </a:rPr>
              <a:t>  60% Team expansion
  25% Marketing
  15% Operations
</a:t>
            </a:r>
            <a:pPr indent="0" marL="0">
              <a:buNone/>
            </a:pPr>
            <a:r>
              <a:rPr lang="en-US" sz="2000" b="1" dirty="0">
                <a:solidFill>
                  <a:srgbClr val="333333"/>
                </a:solidFill>
              </a:rPr>
              <a:t>Runway: </a:t>
            </a:r>
            <a:pPr indent="0" marL="0">
              <a:buNone/>
            </a:pPr>
            <a:r>
              <a:rPr lang="en-US" sz="2000" dirty="0">
                <a:solidFill>
                  <a:srgbClr val="333333"/>
                </a:solidFill>
              </a:rPr>
              <a:t>12 months to profitability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4400" b="1" dirty="0">
                <a:solidFill>
                  <a:srgbClr val="2E5077"/>
                </a:solidFill>
              </a:rPr>
              <a:t>Thank You</a:t>
            </a:r>
            <a:endParaRPr lang="en-US" sz="4400" dirty="0"/>
          </a:p>
        </p:txBody>
      </p:sp>
      <p:sp>
        <p:nvSpPr>
          <p:cNvPr id="3" name="Text 1"/>
          <p:cNvSpPr/>
          <p:nvPr/>
        </p:nvSpPr>
        <p:spPr>
          <a:xfrm>
            <a:off x="457200" y="2743200"/>
            <a:ext cx="8229600" cy="1371600"/>
          </a:xfrm>
          <a:prstGeom prst="rect">
            <a:avLst/>
          </a:prstGeom>
          <a:noFill/>
          <a:ln/>
        </p:spPr>
        <p:txBody>
          <a:bodyPr wrap="square" rtlCol="0" anchor="ctr"/>
          <a:lstStyle/>
          <a:p>
            <a:pPr algn="ctr" indent="0" marL="0">
              <a:buNone/>
            </a:pPr>
            <a:r>
              <a:rPr lang="en-US" sz="2000" dirty="0">
                <a:solidFill>
                  <a:srgbClr val="666666"/>
                </a:solidFill>
              </a:rPr>
              <a:t>hodl@growthpath.scot
</a:t>
            </a:r>
            <a:pPr algn="ctr" indent="0" marL="0">
              <a:buNone/>
            </a:pPr>
            <a:r>
              <a:rPr lang="en-US" sz="2000" dirty="0">
                <a:solidFill>
                  <a:srgbClr val="666666"/>
                </a:solidFill>
              </a:rPr>
              <a:t>www.growthpath.scot
</a:t>
            </a:r>
            <a:pPr algn="ctr" indent="0" marL="0">
              <a:buNone/>
            </a:pPr>
            <a:r>
              <a:rPr lang="en-US" sz="2000" b="1" dirty="0">
                <a:solidFill>
                  <a:srgbClr val="666666"/>
                </a:solidFill>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GrowthPath Consulting - Investor Pitch</dc:title>
  <dc:subject>PptxGenJS Presentation</dc:subject>
  <dc:creator>Hodl McDougall</dc:creator>
  <cp:lastModifiedBy>Hodl McDougall</cp:lastModifiedBy>
  <cp:revision>1</cp:revision>
  <dcterms:created xsi:type="dcterms:W3CDTF">2025-12-24T10:58:36Z</dcterms:created>
  <dcterms:modified xsi:type="dcterms:W3CDTF">2025-12-24T10:58:36Z</dcterms:modified>
</cp:coreProperties>
</file>